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430"/>
                </a:solidFill>
                <a:latin typeface="Arial"/>
              </a:rPr>
              <a:t>Accidents by Time of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12-4am</c:v>
                </c:pt>
                <c:pt idx="1">
                  <c:v>4-8am</c:v>
                </c:pt>
                <c:pt idx="2">
                  <c:v>8-12pm</c:v>
                </c:pt>
                <c:pt idx="3">
                  <c:v>12-4pm</c:v>
                </c:pt>
                <c:pt idx="4">
                  <c:v>4-8pm</c:v>
                </c:pt>
                <c:pt idx="5">
                  <c:v>8-12am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508</c:v>
                </c:pt>
                <c:pt idx="1">
                  <c:v>913</c:v>
                </c:pt>
                <c:pt idx="2">
                  <c:v>2490</c:v>
                </c:pt>
                <c:pt idx="3">
                  <c:v>2976</c:v>
                </c:pt>
                <c:pt idx="4">
                  <c:v>3813</c:v>
                </c:pt>
                <c:pt idx="5">
                  <c:v>1616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C6-4FE0-A0F9-1DE68B5C47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430"/>
                </a:solidFill>
                <a:latin typeface="Arial"/>
              </a:rPr>
              <a:t>Accidents by Weather Condition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Weather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B7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7B8-4F8B-9D84-46AE68484295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B8-4F8B-9D84-46AE68484295}"/>
              </c:ext>
            </c:extLst>
          </c:dPt>
          <c:dPt>
            <c:idx val="2"/>
            <c:bubble3D val="0"/>
            <c:spPr>
              <a:solidFill>
                <a:srgbClr val="6B76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B8-4F8B-9D84-46AE6848429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B8-4F8B-9D84-46AE6848429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B8-4F8B-9D84-46AE6848429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B8-4F8B-9D84-46AE6848429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Raining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81.7</c:v>
                </c:pt>
                <c:pt idx="1">
                  <c:v>11.1</c:v>
                </c:pt>
                <c:pt idx="2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7B8-4F8B-9D84-46AE684842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430"/>
                </a:solidFill>
                <a:latin typeface="Arial"/>
              </a:rPr>
              <a:t>Accident Share by Vehicle Type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Pickup</c:v>
                </c:pt>
                <c:pt idx="1">
                  <c:v>Public transport</c:v>
                </c:pt>
                <c:pt idx="2">
                  <c:v>Lorry / Truck</c:v>
                </c:pt>
                <c:pt idx="3">
                  <c:v>Other</c:v>
                </c:pt>
                <c:pt idx="4">
                  <c:v>Automobile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6.6</c:v>
                </c:pt>
                <c:pt idx="1">
                  <c:v>13.4</c:v>
                </c:pt>
                <c:pt idx="2">
                  <c:v>22.1</c:v>
                </c:pt>
                <c:pt idx="3">
                  <c:v>24.2</c:v>
                </c:pt>
                <c:pt idx="4">
                  <c:v>33.700000000000003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A9-4B89-8AEC-E2CA970C85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430"/>
                </a:solidFill>
                <a:latin typeface="Arial"/>
              </a:rPr>
              <a:t>Accident Severity Breakdown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B70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A80-45D3-8089-C76883443C19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A80-45D3-8089-C76883443C19}"/>
              </c:ext>
            </c:extLst>
          </c:dPt>
          <c:dPt>
            <c:idx val="2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A80-45D3-8089-C76883443C1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A80-45D3-8089-C76883443C1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A80-45D3-8089-C76883443C1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A80-45D3-8089-C76883443C1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Slight Injury</c:v>
                </c:pt>
                <c:pt idx="1">
                  <c:v>Serious Injury</c:v>
                </c:pt>
                <c:pt idx="2">
                  <c:v>Fatal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84.6</c:v>
                </c:pt>
                <c:pt idx="1">
                  <c:v>14.2</c:v>
                </c:pt>
                <c:pt idx="2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A80-45D3-8089-C76883443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B2430"/>
                </a:solidFill>
                <a:latin typeface="Arial"/>
              </a:rPr>
              <a:t>Accidents 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Accidents</c:v>
                </c:pt>
              </c:strCache>
            </c:strRef>
          </c:tx>
          <c:spPr>
            <a:solidFill>
              <a:srgbClr val="FFB70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1681</c:v>
                </c:pt>
                <c:pt idx="1">
                  <c:v>1770</c:v>
                </c:pt>
                <c:pt idx="2">
                  <c:v>1840</c:v>
                </c:pt>
                <c:pt idx="3">
                  <c:v>1851</c:v>
                </c:pt>
                <c:pt idx="4">
                  <c:v>2041</c:v>
                </c:pt>
                <c:pt idx="5">
                  <c:v>1666</c:v>
                </c:pt>
                <c:pt idx="6">
                  <c:v>1467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8D-4E91-97D2-32C100C6B6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1B2430"/>
                </a:solidFill>
                <a:latin typeface="Arial"/>
              </a:rPr>
              <a:t>Top Reported Causes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 priority to vehicle</c:v>
                </c:pt>
                <c:pt idx="1">
                  <c:v>Driving carelessly</c:v>
                </c:pt>
                <c:pt idx="2">
                  <c:v>Changing lane (left)</c:v>
                </c:pt>
                <c:pt idx="3">
                  <c:v>Changing lane (right)</c:v>
                </c:pt>
                <c:pt idx="4">
                  <c:v>No distancing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9.8000000000000007</c:v>
                </c:pt>
                <c:pt idx="1">
                  <c:v>11.4</c:v>
                </c:pt>
                <c:pt idx="2">
                  <c:v>12</c:v>
                </c:pt>
                <c:pt idx="3">
                  <c:v>14.7</c:v>
                </c:pt>
                <c:pt idx="4">
                  <c:v>18.399999999999999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A0-4409-8D40-261D96F9AF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5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01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128" y="4901184"/>
            <a:ext cx="12188952" cy="822960"/>
          </a:xfrm>
          <a:prstGeom prst="rect">
            <a:avLst/>
          </a:prstGeom>
          <a:solidFill>
            <a:srgbClr val="232E3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285232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5285232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Shape 3"/>
          <p:cNvSpPr/>
          <p:nvPr/>
        </p:nvSpPr>
        <p:spPr>
          <a:xfrm>
            <a:off x="2468880" y="5285232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Shape 4"/>
          <p:cNvSpPr/>
          <p:nvPr/>
        </p:nvSpPr>
        <p:spPr>
          <a:xfrm>
            <a:off x="3520440" y="5285232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0" y="5285232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8" name="Shape 6"/>
          <p:cNvSpPr/>
          <p:nvPr/>
        </p:nvSpPr>
        <p:spPr>
          <a:xfrm>
            <a:off x="5623560" y="5285232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5285232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0" name="Shape 8"/>
          <p:cNvSpPr/>
          <p:nvPr/>
        </p:nvSpPr>
        <p:spPr>
          <a:xfrm>
            <a:off x="7726680" y="5285232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5285232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2" name="Shape 10"/>
          <p:cNvSpPr/>
          <p:nvPr/>
        </p:nvSpPr>
        <p:spPr>
          <a:xfrm>
            <a:off x="9829800" y="5285232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81360" y="5285232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4" name="Shape 12"/>
          <p:cNvSpPr/>
          <p:nvPr/>
        </p:nvSpPr>
        <p:spPr>
          <a:xfrm>
            <a:off x="11932920" y="5285232"/>
            <a:ext cx="25908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" y="1033272"/>
            <a:ext cx="1133856" cy="1133856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1316736"/>
            <a:ext cx="566928" cy="56692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23317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ACCIDENT ANALYSIS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566928" y="3108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Patterns Behind the Numbers to Drive Safer Roads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66928" y="582472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 Kumar |  </a:t>
            </a:r>
            <a:r>
              <a:rPr lang="en-US" sz="1600" dirty="0" err="1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16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CSE(AIML) / Sec-A |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Roll.no: 2427932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Science Project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692640" y="5623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C7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Context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126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3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traffic accidents are among the leading causes of unnatural death worldwide — yet most crashes follow patterns hiding in plain sight.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analyzing historical accident records, we can spot when, where, and why crashes happen — and turn raw data into actionable safety insight.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977640"/>
            <a:ext cx="6126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41605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12,316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8006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accident records analyzed for this project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77640" y="4160520"/>
            <a:ext cx="0" cy="1371600"/>
          </a:xfrm>
          <a:prstGeom prst="line">
            <a:avLst/>
          </a:prstGeom>
          <a:noFill/>
          <a:ln w="12700">
            <a:solidFill>
              <a:srgbClr val="DADF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4480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 helps planners, police, and engineers prioritize the right fixes.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40880" y="1417320"/>
            <a:ext cx="4572000" cy="4297680"/>
          </a:xfrm>
          <a:prstGeom prst="roundRect">
            <a:avLst>
              <a:gd name="adj" fmla="val 2128"/>
            </a:avLst>
          </a:prstGeom>
          <a:solidFill>
            <a:srgbClr val="1B2430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0" y="1783080"/>
            <a:ext cx="1097280" cy="109728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05740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0" y="3063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0" y="347472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frequency by time of day &amp; weather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behavior &amp; reported cause of accident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trends across vehicle categories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1005840" cy="10058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9372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Problem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232E3F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19456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widespread awareness campaigns, road accidents remain frequent and unpredictable in occurrence. Authorities often lack a clear, data-backed picture of exactly when, where, and under what conditions crashes are most likely — making it difficult to target prevention efforts effectively.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this project answers: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9834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factors — time of day, weather, driver profile, and road/junction conditions — most strongly influence the frequency and severity of road accidents?”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7612" y="2130552"/>
            <a:ext cx="768096" cy="768096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" y="23225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C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 the Data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raw accident records into an analysis-ready dataset.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29684" y="2130552"/>
            <a:ext cx="768096" cy="768096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23225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C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93592" y="3063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Patterns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39312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trends by time, weather, location, and vehicle type.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72784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91756" y="2130552"/>
            <a:ext cx="768096" cy="768096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232257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9944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C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55664" y="3063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Findings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501384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clear charts that highlight the highest-risk conditions.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134856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53828" y="2130552"/>
            <a:ext cx="768096" cy="768096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5852" y="232257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72016" y="1965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CD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317736" y="3063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Interventions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9363456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insights into practical, actionable safety suggestions.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turned raw data into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52828"/>
            <a:ext cx="694944" cy="694944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2265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3500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Road_cleaned.csv — 12,316 real accident records with 30 attributes (driver, vehicle, road &amp; casualty details).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6968" y="3241548"/>
            <a:ext cx="694944" cy="69494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4152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172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828800" y="353872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 for cleaning &amp; aggregation; chart visualizations built from the aggregated results.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86968" y="4430268"/>
            <a:ext cx="694944" cy="694944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6040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361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EDA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28800" y="472744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inconsistent category labels, bucketed time into 6 windows, grouped vehicle types.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86968" y="5618988"/>
            <a:ext cx="694944" cy="694944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579272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5550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828800" y="591616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Cross-tabulated accident severity against time, weather, junction type, and reported cause.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into the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874520"/>
            <a:ext cx="694944" cy="694944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04825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12,316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288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records analyzed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86968" y="3291840"/>
            <a:ext cx="694944" cy="694944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46557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82880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record (driver, vehicle, road, casualty)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86968" y="4709160"/>
            <a:ext cx="694944" cy="694944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488289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572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17 / 20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828800" y="5074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area types / vehicle types / accident causes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989320" y="1600200"/>
            <a:ext cx="5623560" cy="4251960"/>
          </a:xfrm>
          <a:prstGeom prst="roundRect">
            <a:avLst>
              <a:gd name="adj" fmla="val 2151"/>
            </a:avLst>
          </a:prstGeom>
          <a:solidFill>
            <a:srgbClr val="1B2430"/>
          </a:solidFill>
          <a:ln/>
        </p:spPr>
      </p:sp>
      <p:sp>
        <p:nvSpPr>
          <p:cNvPr id="20" name="Text 15"/>
          <p:cNvSpPr/>
          <p:nvPr/>
        </p:nvSpPr>
        <p:spPr>
          <a:xfrm>
            <a:off x="635508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in the Dataset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286000"/>
          <a:ext cx="4937760" cy="3291841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A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/ Day of 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accident occurred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band, sex, experience, education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Automobile, lorry, public transport, etc.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&amp; junction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Junction type, surface, lane/median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&amp; 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Normal, raining, foggy — daylight/dark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 &amp; 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E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cause, casualties, severity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6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" name="Text 16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Road_cleaned.csv — uploaded accident-record dataset (Time, driver, vehicle, road &amp; casualty attributes).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accidents happen most?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812280" y="1417320"/>
          <a:ext cx="48463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hours (4–8 PM) account for the most accidents (31% of all cases), while 82% occurred in normal weather — clear conditions, not rain or fog, dominate.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vehicles are involved, and how severe are the outcomes?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812280" y="1417320"/>
          <a:ext cx="48463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Automobiles are involved in the largest share of accidents (34%), and lorries/trucks contribute a disproportionate 22% given their smaller share of traffic. 158 accidents (1.3%) were fatal.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day, and what's really causing the crashes?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812280" y="1417320"/>
          <a:ext cx="48463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is the highest-accident day of the week. Driver-behavior issues — following too closely and unsafe lane changes — account for over 45% of all reported causes combined.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7612" y="2130552"/>
            <a:ext cx="768096" cy="768096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" y="23225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63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Following-Distance Campaigns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‘No distancing’ is the #1 reported cause (18%) — target it with signage &amp; spot checks.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9684" y="2130552"/>
            <a:ext cx="768096" cy="768096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23225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063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Lane-Discipline Enforcement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39312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lane changes cause over 26% of accidents combined — the single biggest behavior fix.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91756" y="2130552"/>
            <a:ext cx="768096" cy="768096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232257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3063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Rush-Hour Patrols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501384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PM accounts for 31% of all accidents — concentrate enforcement in this window.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3828" y="2130552"/>
            <a:ext cx="768096" cy="768096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5852" y="232257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3063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Heavy-Vehicle Safety Audits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63456" y="37947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Lorries/trucks drive 22% of accidents despite lower road share — prioritize fleet checks.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1005840" cy="100584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9372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232E3F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2194560"/>
            <a:ext cx="10332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12,316 analyzed accidents, risk is far from random: evening hours, driver-behavior causes — following distance and unsafe lane changes — and heavy-vehicle involvement emerged as the strongest patterns. These findings directly address our problem statement by pinpointing exactly which conditions deserve priority attention.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" y="4416552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42702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hours (4–8 PM) account for 31% of all recorded accidents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19472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7731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distance &amp; unsafe lane changes are the top reported causes (&gt;45% combined)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5422392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27608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outcomes are rare (1.3%), but lorries/trucks contribute disproportionately to accident share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Lessons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0" cy="73152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Had More Time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geolocation data to map true accident hotspots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to flag high-risk time/driver combos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23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dataset with accident dates to study year-over-year trends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468112" cy="4297680"/>
          </a:xfrm>
          <a:prstGeom prst="roundRect">
            <a:avLst>
              <a:gd name="adj" fmla="val 2128"/>
            </a:avLst>
          </a:prstGeom>
          <a:solidFill>
            <a:srgbClr val="1B243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600200"/>
            <a:ext cx="731520" cy="7315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Challenge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492240" y="24688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>
                <a:solidFill>
                  <a:schemeClr val="bg1"/>
                </a:solidFill>
              </a:rPr>
              <a:t>"The raw data was messy — inconsistent spacing in category names and corrupted symbols in labels (e.g. '41?100Q' for a lorry's weight range), plus heavy imbalance in the data (93% male drivers, only 1.3% fatal accidents). Cleaning and standardizing this took real effort before analysis could even begin."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649224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92240" y="42976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work is not a side task — it is most of the project.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246888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Shape 3"/>
          <p:cNvSpPr/>
          <p:nvPr/>
        </p:nvSpPr>
        <p:spPr>
          <a:xfrm>
            <a:off x="352044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Shape 5"/>
          <p:cNvSpPr/>
          <p:nvPr/>
        </p:nvSpPr>
        <p:spPr>
          <a:xfrm>
            <a:off x="562356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9" name="Shape 7"/>
          <p:cNvSpPr/>
          <p:nvPr/>
        </p:nvSpPr>
        <p:spPr>
          <a:xfrm>
            <a:off x="772668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0" name="Shape 8"/>
          <p:cNvSpPr/>
          <p:nvPr/>
        </p:nvSpPr>
        <p:spPr>
          <a:xfrm>
            <a:off x="877824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1" name="Shape 9"/>
          <p:cNvSpPr/>
          <p:nvPr/>
        </p:nvSpPr>
        <p:spPr>
          <a:xfrm>
            <a:off x="982980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8136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3" name="Shape 11"/>
          <p:cNvSpPr/>
          <p:nvPr/>
        </p:nvSpPr>
        <p:spPr>
          <a:xfrm>
            <a:off x="11932920" y="457200"/>
            <a:ext cx="50292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4" name="Shape 12"/>
          <p:cNvSpPr/>
          <p:nvPr/>
        </p:nvSpPr>
        <p:spPr>
          <a:xfrm>
            <a:off x="5408676" y="2057400"/>
            <a:ext cx="1371600" cy="13716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2400300"/>
            <a:ext cx="685800" cy="685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0" y="3657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Analysis  |  Akshit Kumar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1002</Words>
  <Application>Microsoft Office PowerPoint</Application>
  <PresentationFormat>Widescreen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 Analysis</dc:title>
  <dc:subject>PptxGenJS Presentation</dc:subject>
  <dc:creator>Student Name</dc:creator>
  <cp:lastModifiedBy>Akshit Thakur</cp:lastModifiedBy>
  <cp:revision>2</cp:revision>
  <dcterms:created xsi:type="dcterms:W3CDTF">2026-07-03T06:11:12Z</dcterms:created>
  <dcterms:modified xsi:type="dcterms:W3CDTF">2026-07-03T07:50:30Z</dcterms:modified>
</cp:coreProperties>
</file>